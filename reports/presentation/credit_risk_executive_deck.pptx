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7fca3e028e4e6d" /><Relationship Type="http://schemas.openxmlformats.org/officeDocument/2006/relationships/extended-properties" Target="/docProps/app.xml" Id="R21d3096a387c4183" /><Relationship Type="http://schemas.openxmlformats.org/officeDocument/2006/relationships/officeDocument" Target="/ppt/presentation.xml" Id="Re2ca4a3348844b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2577f34474493d"/>
  </p:sldMasterIdLst>
  <p:notesMasterIdLst>
    <p:notesMasterId xmlns:r="http://schemas.openxmlformats.org/officeDocument/2006/relationships" r:id="R8562719fe2104822"/>
  </p:notesMasterIdLst>
  <p:sldIdLst>
    <p:sldId xmlns:r="http://schemas.openxmlformats.org/officeDocument/2006/relationships" id="256" r:id="Rf2b291e1e8694b08"/>
    <p:sldId xmlns:r="http://schemas.openxmlformats.org/officeDocument/2006/relationships" id="257" r:id="R12a45c67b9094f81"/>
    <p:sldId xmlns:r="http://schemas.openxmlformats.org/officeDocument/2006/relationships" id="258" r:id="R7f86ff6c241a4a16"/>
    <p:sldId xmlns:r="http://schemas.openxmlformats.org/officeDocument/2006/relationships" id="259" r:id="R5cb8783b380c4a49"/>
    <p:sldId xmlns:r="http://schemas.openxmlformats.org/officeDocument/2006/relationships" id="260" r:id="R024b5ec867a34483"/>
    <p:sldId xmlns:r="http://schemas.openxmlformats.org/officeDocument/2006/relationships" id="261" r:id="R387ee04b7beb4ca3"/>
    <p:sldId xmlns:r="http://schemas.openxmlformats.org/officeDocument/2006/relationships" id="262" r:id="Rdf1051bdab074bee"/>
    <p:sldId xmlns:r="http://schemas.openxmlformats.org/officeDocument/2006/relationships" id="263" r:id="R4b72b4a870e34f40"/>
    <p:sldId xmlns:r="http://schemas.openxmlformats.org/officeDocument/2006/relationships" id="264" r:id="Rb77dd92dd65d47d9"/>
    <p:sldId xmlns:r="http://schemas.openxmlformats.org/officeDocument/2006/relationships" id="265" r:id="Rb0a901c4644c40aa"/>
    <p:sldId xmlns:r="http://schemas.openxmlformats.org/officeDocument/2006/relationships" id="266" r:id="Re47313ece9584dcc"/>
    <p:sldId xmlns:r="http://schemas.openxmlformats.org/officeDocument/2006/relationships" id="267" r:id="R8ca8c8b972eb47e0"/>
    <p:sldId xmlns:r="http://schemas.openxmlformats.org/officeDocument/2006/relationships" id="268" r:id="R7932dcb35209473a"/>
    <p:sldId xmlns:r="http://schemas.openxmlformats.org/officeDocument/2006/relationships" id="269" r:id="R3cb01a0ffd804783"/>
    <p:sldId xmlns:r="http://schemas.openxmlformats.org/officeDocument/2006/relationships" id="270" r:id="Rb117576777c24b45"/>
    <p:sldId xmlns:r="http://schemas.openxmlformats.org/officeDocument/2006/relationships" id="271" r:id="R0bd7b44894594528"/>
    <p:sldId xmlns:r="http://schemas.openxmlformats.org/officeDocument/2006/relationships" id="272" r:id="R67720c49489f47ee"/>
    <p:sldId xmlns:r="http://schemas.openxmlformats.org/officeDocument/2006/relationships" id="273" r:id="Rf92171b734464fcc"/>
    <p:sldId xmlns:r="http://schemas.openxmlformats.org/officeDocument/2006/relationships" id="274" r:id="R7a14e882449f4e80"/>
    <p:sldId xmlns:r="http://schemas.openxmlformats.org/officeDocument/2006/relationships" id="275" r:id="R4cc0d3da28d747f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fdcd4436754654" /><Relationship Type="http://schemas.openxmlformats.org/officeDocument/2006/relationships/slideMaster" Target="/ppt/slideMasters/slideMaster1.xml" Id="R572577f34474493d" /><Relationship Type="http://schemas.openxmlformats.org/officeDocument/2006/relationships/notesMaster" Target="/ppt/notesMasters/notesMaster1.xml" Id="R8562719fe2104822" /><Relationship Type="http://schemas.openxmlformats.org/officeDocument/2006/relationships/presProps" Target="/ppt/presProps.xml" Id="R9cc1859c8b4941bc" /><Relationship Type="http://schemas.openxmlformats.org/officeDocument/2006/relationships/tableStyles" Target="/ppt/tableStyles.xml" Id="R2cb7980bed9e4f14" /><Relationship Type="http://schemas.openxmlformats.org/officeDocument/2006/relationships/slide" Target="/ppt/slides/slide1.xml" Id="Rf2b291e1e8694b08" /><Relationship Type="http://schemas.openxmlformats.org/officeDocument/2006/relationships/slide" Target="/ppt/slides/slide2.xml" Id="R12a45c67b9094f81" /><Relationship Type="http://schemas.openxmlformats.org/officeDocument/2006/relationships/slide" Target="/ppt/slides/slide3.xml" Id="R7f86ff6c241a4a16" /><Relationship Type="http://schemas.openxmlformats.org/officeDocument/2006/relationships/slide" Target="/ppt/slides/slide4.xml" Id="R5cb8783b380c4a49" /><Relationship Type="http://schemas.openxmlformats.org/officeDocument/2006/relationships/slide" Target="/ppt/slides/slide5.xml" Id="R024b5ec867a34483" /><Relationship Type="http://schemas.openxmlformats.org/officeDocument/2006/relationships/slide" Target="/ppt/slides/slide6.xml" Id="R387ee04b7beb4ca3" /><Relationship Type="http://schemas.openxmlformats.org/officeDocument/2006/relationships/slide" Target="/ppt/slides/slide7.xml" Id="Rdf1051bdab074bee" /><Relationship Type="http://schemas.openxmlformats.org/officeDocument/2006/relationships/slide" Target="/ppt/slides/slide8.xml" Id="R4b72b4a870e34f40" /><Relationship Type="http://schemas.openxmlformats.org/officeDocument/2006/relationships/slide" Target="/ppt/slides/slide9.xml" Id="Rb77dd92dd65d47d9" /><Relationship Type="http://schemas.openxmlformats.org/officeDocument/2006/relationships/slide" Target="/ppt/slides/slide10.xml" Id="Rb0a901c4644c40aa" /><Relationship Type="http://schemas.openxmlformats.org/officeDocument/2006/relationships/slide" Target="/ppt/slides/slide11.xml" Id="Re47313ece9584dcc" /><Relationship Type="http://schemas.openxmlformats.org/officeDocument/2006/relationships/slide" Target="/ppt/slides/slide12.xml" Id="R8ca8c8b972eb47e0" /><Relationship Type="http://schemas.openxmlformats.org/officeDocument/2006/relationships/slide" Target="/ppt/slides/slide13.xml" Id="R7932dcb35209473a" /><Relationship Type="http://schemas.openxmlformats.org/officeDocument/2006/relationships/slide" Target="/ppt/slides/slide14.xml" Id="R3cb01a0ffd804783" /><Relationship Type="http://schemas.openxmlformats.org/officeDocument/2006/relationships/slide" Target="/ppt/slides/slide15.xml" Id="Rb117576777c24b45" /><Relationship Type="http://schemas.openxmlformats.org/officeDocument/2006/relationships/slide" Target="/ppt/slides/slide16.xml" Id="R0bd7b44894594528" /><Relationship Type="http://schemas.openxmlformats.org/officeDocument/2006/relationships/slide" Target="/ppt/slides/slide17.xml" Id="R67720c49489f47ee" /><Relationship Type="http://schemas.openxmlformats.org/officeDocument/2006/relationships/slide" Target="/ppt/slides/slide18.xml" Id="Rf92171b734464fcc" /><Relationship Type="http://schemas.openxmlformats.org/officeDocument/2006/relationships/slide" Target="/ppt/slides/slide19.xml" Id="R7a14e882449f4e80" /><Relationship Type="http://schemas.openxmlformats.org/officeDocument/2006/relationships/slide" Target="/ppt/slides/slide20.xml" Id="R4cc0d3da28d747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7f2007917d42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88eba0a4e34e58" /><Relationship Type="http://schemas.openxmlformats.org/officeDocument/2006/relationships/notesMaster" Target="/ppt/notesMasters/notesMaster1.xml" Id="R672cdfa3d37e4b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e0d0eee2aa4110" /><Relationship Type="http://schemas.openxmlformats.org/officeDocument/2006/relationships/notesMaster" Target="/ppt/notesMasters/notesMaster1.xml" Id="R19dca4e1ad9048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304c7035c84d13" /><Relationship Type="http://schemas.openxmlformats.org/officeDocument/2006/relationships/notesMaster" Target="/ppt/notesMasters/notesMaster1.xml" Id="R07ad9eda87b440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646c7e0fe845a5" /><Relationship Type="http://schemas.openxmlformats.org/officeDocument/2006/relationships/notesMaster" Target="/ppt/notesMasters/notesMaster1.xml" Id="R2151f90aef8849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fc5f5d4f574fb5" /><Relationship Type="http://schemas.openxmlformats.org/officeDocument/2006/relationships/notesMaster" Target="/ppt/notesMasters/notesMaster1.xml" Id="R6db15be891e448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437a2948654ae4" /><Relationship Type="http://schemas.openxmlformats.org/officeDocument/2006/relationships/notesMaster" Target="/ppt/notesMasters/notesMaster1.xml" Id="R3ee7e2992b8147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5f00912dc24601" /><Relationship Type="http://schemas.openxmlformats.org/officeDocument/2006/relationships/notesMaster" Target="/ppt/notesMasters/notesMaster1.xml" Id="Re64b615ba51441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839b43399447d0" /><Relationship Type="http://schemas.openxmlformats.org/officeDocument/2006/relationships/notesMaster" Target="/ppt/notesMasters/notesMaster1.xml" Id="R225374de0a7c4d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0f01ddb34d44ca" /><Relationship Type="http://schemas.openxmlformats.org/officeDocument/2006/relationships/notesMaster" Target="/ppt/notesMasters/notesMaster1.xml" Id="R5832590276cb47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7d610055e14a38" /><Relationship Type="http://schemas.openxmlformats.org/officeDocument/2006/relationships/notesMaster" Target="/ppt/notesMasters/notesMaster1.xml" Id="R4252620ea16740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bd77d876574f57" /><Relationship Type="http://schemas.openxmlformats.org/officeDocument/2006/relationships/notesMaster" Target="/ppt/notesMasters/notesMaster1.xml" Id="Rc92515c124b640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4b534d190a483d" /><Relationship Type="http://schemas.openxmlformats.org/officeDocument/2006/relationships/notesMaster" Target="/ppt/notesMasters/notesMaster1.xml" Id="Rfaa61b3eaed545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c3fd2f32f34c58" /><Relationship Type="http://schemas.openxmlformats.org/officeDocument/2006/relationships/notesMaster" Target="/ppt/notesMasters/notesMaster1.xml" Id="R511eaf67201742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6e1490fe3240b8" /><Relationship Type="http://schemas.openxmlformats.org/officeDocument/2006/relationships/notesMaster" Target="/ppt/notesMasters/notesMaster1.xml" Id="R8a4eec48490544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fbef364bd2e4ada" /><Relationship Type="http://schemas.openxmlformats.org/officeDocument/2006/relationships/notesMaster" Target="/ppt/notesMasters/notesMaster1.xml" Id="R9b287036f6654b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55671b31c5e4a99" /><Relationship Type="http://schemas.openxmlformats.org/officeDocument/2006/relationships/notesMaster" Target="/ppt/notesMasters/notesMaster1.xml" Id="Ra1898a6dea9a42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2d1ebb291e04009" /><Relationship Type="http://schemas.openxmlformats.org/officeDocument/2006/relationships/notesMaster" Target="/ppt/notesMasters/notesMaster1.xml" Id="R0e668f02c4af49a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55a32136a154850" /><Relationship Type="http://schemas.openxmlformats.org/officeDocument/2006/relationships/notesMaster" Target="/ppt/notesMasters/notesMaster1.xml" Id="R601dcfa4d318494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2e57a5b2fde4a3a" /><Relationship Type="http://schemas.openxmlformats.org/officeDocument/2006/relationships/notesMaster" Target="/ppt/notesMasters/notesMaster1.xml" Id="Rb3182ec523334c7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8ec8bf203c74a52" /><Relationship Type="http://schemas.openxmlformats.org/officeDocument/2006/relationships/notesMaster" Target="/ppt/notesMasters/notesMaster1.xml" Id="Re58d9350396b4b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safety boundary: this is decision support, not automated credit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artifacts/metrics/executive_summary.json</a:t>
            </a:r>
          </a:p>
          <a:p xmlns:a="http://schemas.openxmlformats.org/drawingml/2006/main">
            <a:r>
              <a:t>- https://www.bis.org/bcbs/publ/d595.pdf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actual OOT evidence, then the governance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artifacts/metrics/executive_summary.json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https://eur-lex.europa.eu/eli/reg/2024/1689/oj</a:t>
            </a:r>
          </a:p>
          <a:p xmlns:a="http://schemas.openxmlformats.org/drawingml/2006/main">
            <a:r>
              <a:t>- https://www.eba.europa.eu/sites/default/files/document_library/Publications/Guidelines/2020/Guidelines%20on%20loan%20origination%20and%20monitoring/884283/EBA%20GL%202020%2006%20Final%20Report%20on%20GL%20on%20loan%20origination%20and%20monitoring.pdf</a:t>
            </a:r>
          </a:p>
          <a:p xmlns:a="http://schemas.openxmlformats.org/drawingml/2006/main">
            <a:r>
              <a:t>- docs/governance/model-card.md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config/project.yaml</a:t>
            </a:r>
          </a:p>
          <a:p xmlns:a="http://schemas.openxmlformats.org/drawingml/2006/main">
            <a:r>
              <a:t>- src/credit_risk/data.py</a:t>
            </a:r>
          </a:p>
          <a:p xmlns:a="http://schemas.openxmlformats.org/drawingml/2006/main">
            <a:r>
              <a:t>- artifacts/metrics/executive_summary.json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docs/architecture/system-architecture.md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src/credit_risk/data.py</a:t>
            </a:r>
          </a:p>
          <a:p xmlns:a="http://schemas.openxmlformats.org/drawingml/2006/main">
            <a:r>
              <a:t>- src/credit_risk/modeling.py</a:t>
            </a:r>
          </a:p>
          <a:p xmlns:a="http://schemas.openxmlformats.org/drawingml/2006/main">
            <a:r>
              <a:t>- artifacts/metrics/data_quality_checks.csv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artifacts/metrics/model_comparison.csv</a:t>
            </a:r>
          </a:p>
          <a:p xmlns:a="http://schemas.openxmlformats.org/drawingml/2006/main">
            <a:r>
              <a:t>- artifacts/plots/model_comparison.png</a:t>
            </a:r>
          </a:p>
          <a:p xmlns:a="http://schemas.openxmlformats.org/drawingml/2006/main">
            <a:r>
              <a:t>- src/credit_risk/modeling.py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artifacts/metrics/sample_metrics.json</a:t>
            </a:r>
          </a:p>
          <a:p xmlns:a="http://schemas.openxmlformats.org/drawingml/2006/main">
            <a:r>
              <a:t>- artifacts/plots/oot_roc_curve.png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artifacts/plots/oot_calibration.png</a:t>
            </a:r>
          </a:p>
          <a:p xmlns:a="http://schemas.openxmlformats.org/drawingml/2006/main">
            <a:r>
              <a:t>- artifacts/plots/risk_deciles.png</a:t>
            </a:r>
          </a:p>
          <a:p xmlns:a="http://schemas.openxmlformats.org/drawingml/2006/main">
            <a:r>
              <a:t>- https://scikit-learn.org/stable/modules/calibration.html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config/project.yaml</a:t>
            </a:r>
          </a:p>
          <a:p xmlns:a="http://schemas.openxmlformats.org/drawingml/2006/main">
            <a:r>
              <a:t>- src/credit_risk/policy.py</a:t>
            </a:r>
          </a:p>
          <a:p xmlns:a="http://schemas.openxmlformats.org/drawingml/2006/main">
            <a:r>
              <a:t>- reports/workbook/credit_risk_decision_workbench.xlsx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artifacts/metrics/risk_band_summary.csv</a:t>
            </a:r>
          </a:p>
          <a:p xmlns:a="http://schemas.openxmlformats.org/drawingml/2006/main">
            <a:r>
              <a:t>- artifacts/plots/executive_dashboard.png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artifacts/metrics/policy_scenarios.csv</a:t>
            </a:r>
          </a:p>
          <a:p xmlns:a="http://schemas.openxmlformats.org/drawingml/2006/main">
            <a:r>
              <a:t>- https://www.ifrs.org/issued-standards/list-of-standards/ifrs-9-financial-instruments/</a:t>
            </a:r>
          </a:p>
          <a:p xmlns:a="http://schemas.openxmlformats.org/drawingml/2006/main">
            <a:r>
              <a:t>- reports/workbook/credit_risk_decision_workbench.xlsx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artifacts/explanations/global_linear_shap_importance.csv</a:t>
            </a:r>
          </a:p>
          <a:p xmlns:a="http://schemas.openxmlformats.org/drawingml/2006/main">
            <a:r>
              <a:t>- artifacts/plots/global_linear_shap.png</a:t>
            </a:r>
          </a:p>
          <a:p xmlns:a="http://schemas.openxmlformats.org/drawingml/2006/main">
            <a:r>
              <a:t>- https://shap.readthedocs.io/en/latest/</a:t>
            </a:r>
          </a:p>
          <a:p xmlns:a="http://schemas.openxmlformats.org/drawingml/2006/main">
            <a:r>
              <a:t>- src/credit_risk/explainability.py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docs/governance/explainability-standard.md</a:t>
            </a:r>
          </a:p>
          <a:p xmlns:a="http://schemas.openxmlformats.org/drawingml/2006/main">
            <a:r>
              <a:t>- src/credit_risk/service.py</a:t>
            </a:r>
          </a:p>
          <a:p xmlns:a="http://schemas.openxmlformats.org/drawingml/2006/main">
            <a:r>
              <a:t>- artifacts/explanations/oot_local_reason_codes.csv.gz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artifacts/metrics/fairness_summary.csv</a:t>
            </a:r>
          </a:p>
          <a:p xmlns:a="http://schemas.openxmlformats.org/drawingml/2006/main">
            <a:r>
              <a:t>- artifacts/plots/fairness_diagnostics.png</a:t>
            </a:r>
          </a:p>
          <a:p xmlns:a="http://schemas.openxmlformats.org/drawingml/2006/main">
            <a:r>
              <a:t>- https://fairlearn.org/main/user_guide/assessment/index.html</a:t>
            </a:r>
          </a:p>
          <a:p xmlns:a="http://schemas.openxmlformats.org/drawingml/2006/main">
            <a:r>
              <a:t>- docs/governance/fairness-assessment.md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artifacts/monitoring/monthly_monitoring.csv</a:t>
            </a:r>
          </a:p>
          <a:p xmlns:a="http://schemas.openxmlformats.org/drawingml/2006/main">
            <a:r>
              <a:t>- artifacts/plots/model_monitoring.png</a:t>
            </a:r>
          </a:p>
          <a:p xmlns:a="http://schemas.openxmlformats.org/drawingml/2006/main">
            <a:r>
              <a:t>- https://docs.evidentlyai.com/metrics/preset_data_drift</a:t>
            </a:r>
          </a:p>
          <a:p xmlns:a="http://schemas.openxmlformats.org/drawingml/2006/main">
            <a:r>
              <a:t>- docs/operations/monitoring-runbook.md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docs/governance/human-oversight.md</a:t>
            </a:r>
          </a:p>
          <a:p xmlns:a="http://schemas.openxmlformats.org/drawingml/2006/main">
            <a:r>
              <a:t>- docs/governance/decision-policy.md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Dockerfile</a:t>
            </a:r>
          </a:p>
          <a:p xmlns:a="http://schemas.openxmlformats.org/drawingml/2006/main">
            <a:r>
              <a:t>- docker-compose.yml</a:t>
            </a:r>
          </a:p>
          <a:p xmlns:a="http://schemas.openxmlformats.org/drawingml/2006/main">
            <a:r>
              <a:t>- infra/kubernetes/deployment.yaml</a:t>
            </a:r>
          </a:p>
          <a:p xmlns:a="http://schemas.openxmlformats.org/drawingml/2006/main">
            <a:r>
              <a:t>- .github/workflows/ci.yml</a:t>
            </a:r>
          </a:p>
          <a:p xmlns:a="http://schemas.openxmlformats.org/drawingml/2006/main">
            <a:r>
              <a:t>- .github/workflows/security.yml</a:t>
            </a:r>
          </a:p>
          <a:p xmlns:a="http://schemas.openxmlformats.org/drawingml/2006/main">
            <a:r>
              <a:t>- https://prometheus.io/docs/practices/instrumentation/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docs/governance/model-validation-report.md</a:t>
            </a:r>
          </a:p>
          <a:p xmlns:a="http://schemas.openxmlformats.org/drawingml/2006/main">
            <a:r>
              <a:t>- docs/governance/fairness-assessment.md</a:t>
            </a:r>
          </a:p>
          <a:p xmlns:a="http://schemas.openxmlformats.org/drawingml/2006/main">
            <a:r>
              <a:t>- docs/operations/production-readiness-checklist.md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credibility: the project is strong because it reports the blocker instead of hiding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artifacts/metrics/executive_summary.json</a:t>
            </a:r>
          </a:p>
          <a:p xmlns:a="http://schemas.openxmlformats.org/drawingml/2006/main">
            <a:r>
              <a:t>- artifacts/metrics/fairness_summary.csv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4a3abf35840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2ba703ba4e43e5" /><Relationship Type="http://schemas.openxmlformats.org/officeDocument/2006/relationships/slideLayout" Target="/ppt/slideLayouts/slideLayout1.xml" Id="R8069e32f76e04e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69e32f76e04e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9e140d6f642b4" /><Relationship Type="http://schemas.openxmlformats.org/officeDocument/2006/relationships/notesSlide" Target="/ppt/notesSlides/notesSlide1.xml" Id="Recf587f9afdf4e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9d4cc211041d5" /><Relationship Type="http://schemas.openxmlformats.org/officeDocument/2006/relationships/notesSlide" Target="/ppt/notesSlides/notesSlide2.xml" Id="Rdba30b56635c4e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1c8f7aabf403d" /><Relationship Type="http://schemas.openxmlformats.org/officeDocument/2006/relationships/notesSlide" Target="/ppt/notesSlides/notesSlide3.xml" Id="R4e14b638a35f4e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3221a09c44bfa" /><Relationship Type="http://schemas.openxmlformats.org/officeDocument/2006/relationships/notesSlide" Target="/ppt/notesSlides/notesSlide4.xml" Id="Rf87cc04ab54348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b02a8f2534f03" /><Relationship Type="http://schemas.openxmlformats.org/officeDocument/2006/relationships/notesSlide" Target="/ppt/notesSlides/notesSlide5.xml" Id="Rccae77be379948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28965fb3748cc" /><Relationship Type="http://schemas.openxmlformats.org/officeDocument/2006/relationships/notesSlide" Target="/ppt/notesSlides/notesSlide6.xml" Id="Rf13a5b92174b4a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7412c3c3d4cd4" /><Relationship Type="http://schemas.openxmlformats.org/officeDocument/2006/relationships/image" Target="/ppt/media/image.png" Id="R6ca1b7475bd24f41" /><Relationship Type="http://schemas.openxmlformats.org/officeDocument/2006/relationships/notesSlide" Target="/ppt/notesSlides/notesSlide7.xml" Id="R5f60c10727f04e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89bf8b2d64958" /><Relationship Type="http://schemas.openxmlformats.org/officeDocument/2006/relationships/image" Target="/ppt/media/image2.png" Id="R899e07dbc8654a5c" /><Relationship Type="http://schemas.openxmlformats.org/officeDocument/2006/relationships/notesSlide" Target="/ppt/notesSlides/notesSlide8.xml" Id="R8dc4f743d2ee46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c16321ee3438d" /><Relationship Type="http://schemas.openxmlformats.org/officeDocument/2006/relationships/image" Target="/ppt/media/image3.png" Id="R0e55643608b1433f" /><Relationship Type="http://schemas.openxmlformats.org/officeDocument/2006/relationships/image" Target="/ppt/media/image4.png" Id="Rf3395a6b1f774307" /><Relationship Type="http://schemas.openxmlformats.org/officeDocument/2006/relationships/notesSlide" Target="/ppt/notesSlides/notesSlide9.xml" Id="R1c169dbb134b43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174730d864b25" /><Relationship Type="http://schemas.openxmlformats.org/officeDocument/2006/relationships/notesSlide" Target="/ppt/notesSlides/notesSlide10.xml" Id="R45f4cbd2ccda4c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28270d9ac4d9e" /><Relationship Type="http://schemas.openxmlformats.org/officeDocument/2006/relationships/image" Target="/ppt/media/image5.png" Id="R1139892ef6924399" /><Relationship Type="http://schemas.openxmlformats.org/officeDocument/2006/relationships/notesSlide" Target="/ppt/notesSlides/notesSlide11.xml" Id="Rcbf530b593f84d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3f57cff33451f" /><Relationship Type="http://schemas.openxmlformats.org/officeDocument/2006/relationships/chart" Target="/ppt/slides/charts/chart1.xml" Id="Re665d0f926f74047" /><Relationship Type="http://schemas.openxmlformats.org/officeDocument/2006/relationships/notesSlide" Target="/ppt/notesSlides/notesSlide12.xml" Id="Rd00c0297525547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11ad417af4e85" /><Relationship Type="http://schemas.openxmlformats.org/officeDocument/2006/relationships/image" Target="/ppt/media/image6.png" Id="R6a31d06dfee445a8" /><Relationship Type="http://schemas.openxmlformats.org/officeDocument/2006/relationships/notesSlide" Target="/ppt/notesSlides/notesSlide13.xml" Id="R357dd2e08e4149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96399ae074959" /><Relationship Type="http://schemas.openxmlformats.org/officeDocument/2006/relationships/notesSlide" Target="/ppt/notesSlides/notesSlide14.xml" Id="R29c4a4f2fb1948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7252786de4c02" /><Relationship Type="http://schemas.openxmlformats.org/officeDocument/2006/relationships/image" Target="/ppt/media/image7.png" Id="Rc3d414b4aba14883" /><Relationship Type="http://schemas.openxmlformats.org/officeDocument/2006/relationships/notesSlide" Target="/ppt/notesSlides/notesSlide15.xml" Id="R8e1d0cb348134f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0d3982d1447b1" /><Relationship Type="http://schemas.openxmlformats.org/officeDocument/2006/relationships/image" Target="/ppt/media/image8.png" Id="Rde3ec38dee394fac" /><Relationship Type="http://schemas.openxmlformats.org/officeDocument/2006/relationships/notesSlide" Target="/ppt/notesSlides/notesSlide16.xml" Id="Rd17de15155c845e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e0632d1ec41d5" /><Relationship Type="http://schemas.openxmlformats.org/officeDocument/2006/relationships/notesSlide" Target="/ppt/notesSlides/notesSlide17.xml" Id="R8115352491f94d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5a37c8df0464d" /><Relationship Type="http://schemas.openxmlformats.org/officeDocument/2006/relationships/notesSlide" Target="/ppt/notesSlides/notesSlide18.xml" Id="Rae310aa0e1444b9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cdb6ae482456f" /><Relationship Type="http://schemas.openxmlformats.org/officeDocument/2006/relationships/notesSlide" Target="/ppt/notesSlides/notesSlide19.xml" Id="Rd72a5db829834cc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8ff5f34564bc8" /><Relationship Type="http://schemas.openxmlformats.org/officeDocument/2006/relationships/notesSlide" Target="/ppt/notesSlides/notesSlide20.xml" Id="Rd9eaa17fa91d4f4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Approval rate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4"/>
              <c:pt idx="0">
                <c:v>6%</c:v>
              </c:pt>
              <c:pt idx="1">
                <c:v>10%</c:v>
              </c:pt>
              <c:pt idx="2">
                <c:v>14%</c:v>
              </c:pt>
              <c:pt idx="3">
                <c:v>16%</c:v>
              </c:pt>
            </c:strLit>
          </c:cat>
          <c:val>
            <c:numLit>
              <c:formatCode>0%</c:formatCode>
              <c:ptCount val="4"/>
              <c:pt idx="0">
                <c:v>0.196353087443017</c:v>
              </c:pt>
              <c:pt idx="1">
                <c:v>0.41657687525901366</c:v>
              </c:pt>
              <c:pt idx="2">
                <c:v>0.5800248653128885</c:v>
              </c:pt>
              <c:pt idx="3">
                <c:v>0.6437629506837961</c:v>
              </c:pt>
            </c:numLit>
          </c:val>
        </c:ser>
        <c:ser>
          <c:idx val="1"/>
          <c:order val="1"/>
          <c:tx>
            <c:v>Approved observed default rate</c:v>
          </c:tx>
          <c:spPr>
            <a:solidFill xmlns:a="http://schemas.openxmlformats.org/drawingml/2006/main">
              <a:srgbClr val="D97706"/>
            </a:solidFill>
          </c:spPr>
          <c:cat>
            <c:strLit>
              <c:ptCount val="4"/>
              <c:pt idx="0">
                <c:v>6%</c:v>
              </c:pt>
              <c:pt idx="1">
                <c:v>10%</c:v>
              </c:pt>
              <c:pt idx="2">
                <c:v>14%</c:v>
              </c:pt>
              <c:pt idx="3">
                <c:v>16%</c:v>
              </c:pt>
            </c:strLit>
          </c:cat>
          <c:val>
            <c:numLit>
              <c:formatCode>0%</c:formatCode>
              <c:ptCount val="4"/>
              <c:pt idx="0">
                <c:v>0.05360911777121148</c:v>
              </c:pt>
              <c:pt idx="1">
                <c:v>0.07879029048945484</c:v>
              </c:pt>
              <c:pt idx="2">
                <c:v>0.09488425264361246</c:v>
              </c:pt>
              <c:pt idx="3">
                <c:v>0.10493111883610146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7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2F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65EF9E-DC18-49B1-991B-5D16C7C9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8F139-E8D1-4F55-B255-21C5BEF8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AURELIA BANK • MODEL RISK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4E318-759D-485D-9149-0EDAC1DF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Banking Credit Risk</a:t>
            </a:r>
          </a:p>
          <a:p xmlns:a="http://schemas.openxmlformats.org/drawingml/2006/main">
            <a:pPr algn="l">
              <a:defRPr sz="40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&amp; Explainable Loan Decisioning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A6FAE-2BCB-432C-9067-5406319F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 governed, human-in-the-loop decision-support platform built on a deterministic synthetic portfolio.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9B2C4-7F2A-4C63-9306-E64C3033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05300"/>
            <a:ext cx="2438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8CF3B-ED62-4035-A469-CA0FE9EF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3390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48,000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5E637-8E77-4AEE-98B9-BA4C23A3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0673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applications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82611-C612-41CC-86BC-EF0DBD0E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62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Portfolio project • v1.0.0 • 2026</a:t>
            </a:r>
          </a:p>
        </p:txBody>
      </p:sp>
    </p:spTree>
    <p:extLst>
      <p:ext uri="{BB962C8B-B14F-4D97-AF65-F5344CB8AC3E}">
        <p14:creationId xmlns:p14="http://schemas.microsoft.com/office/powerpoint/2010/main" val="637433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0E862B-0970-48C2-AF71-69BA124A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BANKING CREDIT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C1091-6A0B-433D-8847-ADC09DE3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5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One platform connects credit judgement, evidence and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1EA0C-39CD-401A-A7F7-BF16B20C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47D43-4272-4106-8B23-D0B37800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D1EEF-F7BE-460E-B2BE-6E19CA20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2571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FF16A-A445-446B-9535-DCBE62C4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7B128-1251-4531-85D0-19A7A0F8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OOT ROC AUC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BCB11-1320-47E4-B57B-2C094A9B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0.738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8E147-7A02-4F4B-8924-5CB401FE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Temporal 2025 holdout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6CED3-E67E-44F8-BCC2-BB1B6BEE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33550"/>
            <a:ext cx="2571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5070D-26CE-490D-BCC2-3FDBC365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335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28B36-E6BF-4EF2-9E08-BF2DDDD7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240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Gini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22E4A-B331-4267-B81E-AB8417F1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098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0.475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69283-470C-4423-AFF7-689504B9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241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Rank-ordering strength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839AC-5015-44F4-96D7-7A2980D3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2571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6994A-3A66-44D4-A77A-4F27871E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6ED97-18CA-441F-B03E-7BD6273E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240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Approval recommendation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92B840-00D9-4ABF-8395-813E1352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41.7%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0A4F10-4F87-4D7F-9795-B22CE75C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Policy threshold = 10% PD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53EB6-31A3-446B-B26E-63A76417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33550"/>
            <a:ext cx="2647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6DDA2F-F8F7-4969-9299-9B05207C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335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D910F-7BD4-40FD-AA60-FCDF74DB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240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SHAP additivity error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E03F56-DAC3-40D4-8EAD-DB94AEA2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098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2.7e-15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FFA78D-6EFD-4A7A-8C34-F6110A55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Numerical identity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70D37C-EB4C-43A3-8E9A-B4D0CFE9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Executive thesis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988909-80D0-496F-8ACF-CC5080FD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11201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portfolio demonstrates a credible model-risk operating pattern: calibrated PDs, transparent risk segmentation, exact additive explanations, explicit fairness escalation and monthly monitoring — with human authority retained throughout.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5CBEEB-AAB3-4649-BDF4-9D7B355D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24C919-D4C5-4A51-9516-1F6CD46D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• DECISION SUPPORT 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8DC2A8-1271-4B36-A58A-884E3C97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 / 20</a:t>
            </a:r>
          </a:p>
        </p:txBody>
      </p:sp>
    </p:spTree>
    <p:extLst>
      <p:ext uri="{BB962C8B-B14F-4D97-AF65-F5344CB8AC3E}">
        <p14:creationId xmlns:p14="http://schemas.microsoft.com/office/powerpoint/2010/main" val="6441100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03114C-760D-4CA3-8D00-70564263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BANKING CREDIT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8EC9F-7796-41AF-9E59-C090836B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967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design separates analytical recommendation from legal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5AA6C-AF60-4A2E-ACCC-E083EB4F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2EC98-842F-4AE2-8EF0-FF478ACE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61AE5-7F8C-493E-82F3-50DD5BF2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3333750" cy="3714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BE720-1394-4C9D-9D10-6932CE8E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994A0-5259-4DEF-B41D-E0A4D418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In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78E2B-9B04-4A68-A84A-30E1B63E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9146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12-month PD scoring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A-F risk segmentation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Approve / refer / decline recommendation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Illustrative PD × LGD × EAD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Reason codes and monitoring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0F9B0-04FD-4018-9F9D-E5B45DB1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333750" cy="3714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54F30-B9EF-403D-8CD8-2F685019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6CBE7-1F93-4DBC-866F-98666DBD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431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Mandatory oversight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69A98-904B-4434-AF89-5AC768A5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00300"/>
            <a:ext cx="29146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Authorized credit officer review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Policy exception workflow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Independent model validation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Fairness investigation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Jurisdiction-specific disclosure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E7658-67DD-4092-9620-C50B7404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3695700" cy="371475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18923E-554B-4917-9D3B-BD2E44A8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369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FD0E2-1040-42C1-BDC6-599335BD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Explicitly out of scope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FBB3F-8172-4D9D-8773-2EC7D5A5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32766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Automated final approval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Pricing or limit assignment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Production adverse-action notices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Real customer data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Claimed Basel, EBA, AI Act or IFRS 9 compliance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7D9FD-4F14-4C3F-A8E4-1C4831F5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67D7B-5189-40DA-859F-DDAF8524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• DECISION SUPPORT 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DCC99B-0128-4099-8E17-41DE5C10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 / 20</a:t>
            </a:r>
          </a:p>
        </p:txBody>
      </p:sp>
    </p:spTree>
    <p:extLst>
      <p:ext uri="{BB962C8B-B14F-4D97-AF65-F5344CB8AC3E}">
        <p14:creationId xmlns:p14="http://schemas.microsoft.com/office/powerpoint/2010/main" val="15390409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450689-52B9-4E0C-B97B-4C29240A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BANKING CREDIT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A7F1C-3E9F-450E-B4BD-E6505AA2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43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Temporal evidence is designed to resemble a real model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23604-596B-4C7B-9E33-CCDFED2C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9481C-BE8F-4573-9B4C-91D4224D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FA7F2-34D9-4DD7-91CD-63C9D7C6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0EC77-E066-4F81-A743-68CB255A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AB2DA-7CC2-4D9E-B56A-5A085AD3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2022–Jun 2024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96204-51C9-4D9B-B00B-EF8C6173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Development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8A8DF-81E8-42E0-9660-3E69FD88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29,901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85B8A-324C-42D4-BC9A-3B606C9F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3731D-BCD5-4936-B7ED-F74B8048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955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738B7-160B-4CBE-B8B3-3F02DAF1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955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6D072-EEE0-4D8F-8393-D494320B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Jul–Dec 2024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6D3F2-A2F9-4172-8C8F-A27F5D50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84B59-F372-49A7-A696-7DBBED60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909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6,034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20E4F-B5B7-4376-A570-9B1E5BCB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05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FFA689-6E5D-4359-AD43-397F21B1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8BAEF2-E9D8-4681-A686-0800391E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D7B6C2-4B2E-4570-85D2-2CFEA1CA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97706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89C7A8-0323-4C2F-A5AA-09E7BBC9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Out-of-time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75C11-B7DC-46DB-82E1-716E5B49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909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12,065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69B435-9435-4E00-AD4C-D58476BD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05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1A0662-0349-4C85-B124-12E57D9F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00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Application-time variables 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614E6A-5DB3-4E4F-8201-F3270E99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1201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Protected attributes are retained solely in a restricted fairness-audit slice and never enter training or online scoring.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547410-6B10-470C-82FC-90CFDD95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D56A31-9FFA-410F-B0A5-4AA04D63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• DECISION SUPPORT ONLY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D1A3F7-B2B7-402E-870E-910E99A3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 / 20</a:t>
            </a:r>
          </a:p>
        </p:txBody>
      </p:sp>
    </p:spTree>
    <p:extLst>
      <p:ext uri="{BB962C8B-B14F-4D97-AF65-F5344CB8AC3E}">
        <p14:creationId xmlns:p14="http://schemas.microsoft.com/office/powerpoint/2010/main" val="20473945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2A7A1C-D6FC-4BA6-9A4A-FBB80DF9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BANKING CREDIT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71B72-B1E2-48DE-80AD-FF9F649E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Reference architecture makes every decision traceable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06571-092A-45A3-82DE-437A0632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47A5F-08E6-4F94-9C01-51F9F548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59CF7-D60B-4966-9000-1F922018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943100" cy="24765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7AA62-7D15-4B46-9F5B-7D8E38C3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FFE20-8C5B-458F-A3A5-9BBF065F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Synthetic applications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09784-814A-4EC7-862B-C827750A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16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Deterministic generation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Schema &amp; DQ gates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FEF65-65FB-451F-B0E4-4CEBE287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909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97876-9B68-4242-A7E4-CD69E9F9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90750"/>
            <a:ext cx="1943100" cy="24765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52B88-F814-41D5-B575-652EF481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622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A47EF-91E1-4546-B444-8A250890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337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Feature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0F6048-E8BD-438C-BBB2-79E98F03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766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Application-time only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Protected fields excluded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79A4C-014C-412D-9981-5CCDE534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C733B-50AC-4500-9383-7902BFB4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90750"/>
            <a:ext cx="1943100" cy="24765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BE319-0563-401F-A187-26C1EF3B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622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05219-29E6-430E-9C58-64F55AF6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337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Model &amp; 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6A513D-BA79-4CC7-B009-223C4070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766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Calibrated PD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Score • band • recommendation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45717-C983-4702-86D9-17047B23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909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FA25D-827B-4D64-9B5F-4A9534D2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1943100" cy="24765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7F2B99-DBD1-4EC6-86CE-99318619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0E77F2-BC73-41B8-9011-3DB749FA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337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Evidence layer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F45E77-A299-4D7D-9936-92355C3E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766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Linear SHAP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Fairness • monitoring • lineage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B79913-5A8B-42D6-8A54-2574F61F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909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EDAD53-725F-480B-9243-EE398723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1943100" cy="24765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06C254-67B1-4857-B71B-5A771124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622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9770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41E73F-36AE-4A98-B9D5-99A2D6B5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337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Human 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1F8769-4944-4C1E-9F57-629ECEA1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766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Review queue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Override &amp; audit record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5D4F7A-7DB7-4E31-A8AE-29AC4BBF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9200"/>
            <a:ext cx="109347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BEF68F-377F-4F02-8F15-2DDBDE4A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CONTROL BOUNDARY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CA8FE4-F199-42D9-8476-9A50A8F9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00650"/>
            <a:ext cx="908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66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platform can recommend; only an authorized person or approved downstream policy process can decide.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3B24AB-8FAB-4E10-9B76-3F2A44AC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602B88-AF3F-4F5D-ACFC-F2656946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• DECISION SUPPORT ONLY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5CB416-B34E-4EBB-B5F3-8D1898AC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 / 20</a:t>
            </a:r>
          </a:p>
        </p:txBody>
      </p:sp>
    </p:spTree>
    <p:extLst>
      <p:ext uri="{BB962C8B-B14F-4D97-AF65-F5344CB8AC3E}">
        <p14:creationId xmlns:p14="http://schemas.microsoft.com/office/powerpoint/2010/main" val="19298203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7AFC21-4076-4B97-AF62-7ABCB698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BANKING CREDIT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EFDCF-BB0D-437D-805E-57B36879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Feature governance starts before model fitting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4A4B5-4845-4618-A901-F238E178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30657-819D-4938-8783-28D4F88C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51210-E76B-4A72-B0F0-789992F0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288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62376-041B-41A1-A9F0-46658BB2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615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17 numeric + 6 categorical application-time predictors with deterministic provenance.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66AD5-782E-48D6-8929-59D3D891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527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D7793-4E19-459A-B1FC-3BAF7A7A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615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No outcome leakage: post-origination delinquency and collection events are excluded.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13941-9C1B-4576-B685-4A42F898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766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C6880-DC18-4444-97FD-543CE14D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615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Gender and age band never enter preprocessing, training, scoring or reason-code generation.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17C50-153F-43FE-B15C-FECDE10A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AEA8E-A050-4475-BFB0-7DA82959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615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One-hot / standardized logistic preprocessing is persisted inside the champion pipeline.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11400-8F43-4B76-9157-F94D8DA4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201BD-BCCA-40A6-8AD3-537481FC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615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Data-quality gates cover schema, uniqueness, binary target, completeness and safety flags.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61441-65E6-470A-8734-83F764D6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71650"/>
            <a:ext cx="41529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1AD9A-06F0-454D-966F-84126D14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57400"/>
            <a:ext cx="358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Feature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0F21F-DCDC-4348-ADCB-73B32EAE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MODEL-ELIGIBLE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22D23-F282-48EB-9599-4CD08B1F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3390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Income • DTI • bureau score • utilization • history • tenure • purpose • channel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38A6A9-2033-423F-850C-74ADB5F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38600"/>
            <a:ext cx="339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EBAFE-3890-40E4-B8BB-05778786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67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AUDIT-ONLY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20ABFD-7E0C-409C-AE3B-DD58EECE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1010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Gender • age band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8A9D58-D665-4768-9136-B4EC8B9B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8D8B15-7020-4D93-A290-9549CBB4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• DECISION SUPPORT 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52C6E9-2A90-432F-836B-D3CC65EE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6 / 20</a:t>
            </a:r>
          </a:p>
        </p:txBody>
      </p:sp>
    </p:spTree>
    <p:extLst>
      <p:ext uri="{BB962C8B-B14F-4D97-AF65-F5344CB8AC3E}">
        <p14:creationId xmlns:p14="http://schemas.microsoft.com/office/powerpoint/2010/main" val="534620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587D74-FC5A-4C66-B4EC-D741D89B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BANKING CREDIT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1BF29-5FAC-4A64-980E-2758077B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interpretable champion also leads the validation 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8C6E5-075C-4355-B7F0-0124A284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3D94C-BF72-4AC9-9DAB-A299CDF2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65466-DB50-4274-9612-4D99C333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6667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1b7475bd24f41"/>
          <a:stretch xmlns:a="http://schemas.openxmlformats.org/drawingml/2006/main"/>
        </p:blipFill>
        <p:spPr>
          <a:xfrm xmlns:a="http://schemas.openxmlformats.org/drawingml/2006/main">
            <a:off x="571500" y="1948421"/>
            <a:ext cx="6515100" cy="32088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C1F12-7CF3-45DD-A260-FCECD12B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95450"/>
            <a:ext cx="4152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F55A7-D6B3-4024-A941-B6E7A46F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95450"/>
            <a:ext cx="4152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FDDF1-FB86-46EC-9585-386F0755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2405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Champion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0605C-04EA-46F2-A55C-7148C247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75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Logistic regression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Validation AUC 0.733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3757F-93BA-4858-87E0-8B1505AB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4152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B32FA-93A2-4B7F-A790-0D2C5809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4152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052AC-FBEC-4918-AF97-DC8F8152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1945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Why it wins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2984AE-9E0B-4633-AE14-D35E5BB0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7665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872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Best AUC and Brier in validation; probability outputs remain directly auditable.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4D271-3A58-44CD-A2C7-5DC61C75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4152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D5745-D947-4E9B-98DE-AB7AE4F0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4152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3F746-A011-4E1F-9476-88940554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1485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Challenge discipline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88ECA8-7442-4664-A914-80AEA3EC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7205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841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Histogram gradient boosting and random forest remain evidence, not discarded experiments.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FCE81-C5F7-4CB6-869F-B49C5FB1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DC2A0-9D6E-4F50-9EEC-762BEE5E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• DECISION SUPPORT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510C62-19DF-4680-A8A6-CDC4F0A2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7 / 20</a:t>
            </a:r>
          </a:p>
        </p:txBody>
      </p:sp>
    </p:spTree>
    <p:extLst>
      <p:ext uri="{BB962C8B-B14F-4D97-AF65-F5344CB8AC3E}">
        <p14:creationId xmlns:p14="http://schemas.microsoft.com/office/powerpoint/2010/main" val="9316197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43F853-9C7E-4283-85CF-4DDD55B0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BANKING CREDIT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A474B-760A-47E3-9326-C4B035CB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Out-of-time evidence confirms stable rank ordering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4DB64-2A56-4F7F-9476-C5764988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3F923-9537-48F9-823B-5B9DF5EA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84298-5449-46D9-935D-C7EB1C15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53340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e07dbc8654a5c"/>
          <a:stretch xmlns:a="http://schemas.openxmlformats.org/drawingml/2006/main"/>
        </p:blipFill>
        <p:spPr>
          <a:xfrm xmlns:a="http://schemas.openxmlformats.org/drawingml/2006/main">
            <a:off x="1321105" y="1771650"/>
            <a:ext cx="3682389" cy="3790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5A052-4EC0-46DC-9DE6-3FC4ACBE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571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4B6C5-0674-4C3E-BD13-3FB45B2B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CC46D-3198-4E11-BD46-C2D72070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ROC AUC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A01BA-E1F6-49BE-ADE4-D8A77F63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0.738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93774-35A9-4AF4-9568-C30D9750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051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Gate ≥ 0.700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BF98A-6BD1-4F42-8DE7-73055350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0"/>
            <a:ext cx="2647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A2B56-AFC0-4C64-B312-047AE685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612605-0150-4D4F-B381-C30D5FC5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050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8EB5D-ABAC-4863-AB9D-827FA4F3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907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0.361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7210D-033C-4D78-96AC-AE451FCF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051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Maximum separation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3712CF-E9C3-44D3-A74C-769199E4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2571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D8F45-3876-46DF-BAED-2F569771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C88C65-FD57-41B9-B72C-45B89D01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242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 AUC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1124A9-2442-481B-AFAF-CE12771A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00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0.421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C7BE8F-FEAF-43C9-AD7C-B9E6FE85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243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Default-focused precision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859F91-9AC9-4D31-A855-22952767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33750"/>
            <a:ext cx="2647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3F7FDF-F18C-4402-9A10-A6AC0B2A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337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C67E45-3683-466A-ADFF-1ACEBD45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242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Brier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9279F4-01C1-4016-98EA-E077D94A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100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0.134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725649-5AF6-4C46-8783-36EE65CE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243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Probability accuracy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ED9E97-E30F-48E7-996A-ACFFECC3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0150"/>
            <a:ext cx="548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Performance is sufficient for this synthetic case, not proof of external validity.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03EA2A-FD1A-4D17-A097-E36B998B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668C83-2B00-4B50-A055-67084034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• DECISION SUPPORT ONLY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F34061-C5B2-4318-ACA5-419BC1CF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8 / 20</a:t>
            </a:r>
          </a:p>
        </p:txBody>
      </p:sp>
    </p:spTree>
    <p:extLst>
      <p:ext uri="{BB962C8B-B14F-4D97-AF65-F5344CB8AC3E}">
        <p14:creationId xmlns:p14="http://schemas.microsoft.com/office/powerpoint/2010/main" val="10527695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D4814B-6B70-4FA7-9CCB-5DCE127A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BANKING CREDIT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D4CA7-12A5-436F-967A-790EE90F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49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Calibration and deciles answer different governance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70356-27D2-4CD0-B5F6-80AB9995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DCB8F-618B-452F-BE50-3481A279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4C9284-6E7E-457F-9DFE-47476FA2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5643608b1433f"/>
          <a:stretch xmlns:a="http://schemas.openxmlformats.org/drawingml/2006/main"/>
        </p:blipFill>
        <p:spPr>
          <a:xfrm xmlns:a="http://schemas.openxmlformats.org/drawingml/2006/main">
            <a:off x="947830" y="1790700"/>
            <a:ext cx="4047940" cy="3562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B5E78-7B65-4C04-A4D3-E9DC1C6C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14500"/>
            <a:ext cx="60579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95a6b1f774307"/>
          <a:stretch xmlns:a="http://schemas.openxmlformats.org/drawingml/2006/main"/>
        </p:blipFill>
        <p:spPr>
          <a:xfrm xmlns:a="http://schemas.openxmlformats.org/drawingml/2006/main">
            <a:off x="5722951" y="1790700"/>
            <a:ext cx="5851498" cy="35623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A3606-01D1-43A8-B07C-85BE608D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Calibration slope 0.981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32823-01DB-436A-8C0E-1836E633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Reliability: do PD levels match outcomes?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884EB-F41F-4842-9678-A83CEA24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19750"/>
            <a:ext cx="605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Rank ordering: do risk tiers separate outcomes?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C7C93-676D-4DF2-988B-F87C6798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89421-5203-4CED-9861-749861B8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• DECISION SUPPORT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2AAD4-34BD-46AF-A6BB-5C4DB691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9 / 20</a:t>
            </a:r>
          </a:p>
        </p:txBody>
      </p:sp>
    </p:spTree>
    <p:extLst>
      <p:ext uri="{BB962C8B-B14F-4D97-AF65-F5344CB8AC3E}">
        <p14:creationId xmlns:p14="http://schemas.microsoft.com/office/powerpoint/2010/main" val="8135230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A70274-E279-4EAF-9712-7F683040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BANKING CREDIT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1ED8B-6286-4B1C-8F68-7856C86B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Policy translates PD into a transparent review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675FC-695F-4AF1-BE94-6710968B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0AB0E-87B5-4B56-A505-3228B25F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74706-2ADB-4ACA-905C-5960B968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3333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DB2F6-B93E-4DB3-B13A-8CBFC9BF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F1C62-406E-4A49-9DFC-43F2A7BB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PD &lt; 10%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DDC37-6ABA-407C-B893-5B862FB0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9146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APPROVE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RECOMMENDATION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Human confirmation may still apply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B99EA-851D-4221-AAB2-30108683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66900"/>
            <a:ext cx="3333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F93DE-364E-4180-AF90-6C805CE0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669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41186-B269-423F-83D5-898C747A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10% ≤ PD &lt; 22%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A85B7-9A9E-483E-ACEF-0E6B0F6D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52700"/>
            <a:ext cx="29146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REFER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Mandatory credit officer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4ABE4-626C-4D2F-940A-953556B4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66900"/>
            <a:ext cx="3333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9ABC4-9144-493C-AD02-861706B8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669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F8D63-5E03-4387-9C89-5044E1EC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PD ≥ 22%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A7027A-8CC5-48FE-9BC3-E7676631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29146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DECLINE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RECOMMENDATION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Mandatory review + disclosure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3A3F4-5BF8-4F18-866C-D7A1DBD3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Credit score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09282-6F21-4C22-AA1B-8B86C41F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33950"/>
            <a:ext cx="862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650 points at 10% PD • 50 points to double the odds • clipped to 300–850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8AF5CA-1CE9-4F7A-8F5C-F4E6B4AC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120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Risk bands and scores communicate model output; they do not replace policy ownership.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D38E5-791A-4618-BD5A-F171554B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7597B6-FD65-420A-8B8C-614E15A6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• DECISION SUPPORT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3180C6-7C5B-42B0-AC4A-B8AAAF74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6164352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3157A2-247C-4498-BBCA-2FAF695E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BANKING CREDIT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10C7C-5925-4D7B-A643-5F47D2B4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Risk bands make portfolio composition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1920B-0AD3-4C50-9FFC-56F45EEA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4ABAC-050D-4079-8339-A526538F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37499-C921-4618-86CB-827CBF26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733425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9892ef6924399"/>
          <a:stretch xmlns:a="http://schemas.openxmlformats.org/drawingml/2006/main"/>
        </p:blipFill>
        <p:spPr>
          <a:xfrm xmlns:a="http://schemas.openxmlformats.org/drawingml/2006/main">
            <a:off x="1059698" y="1733550"/>
            <a:ext cx="6205454" cy="3962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4EC94-A441-4653-9D3B-13639D43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581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3322A-3939-43E1-BC40-79F938FA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581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756EB-8D1F-4A09-BD37-A705B00A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050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Largest band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D399D-3E74-43A9-A1EB-E7DC20D8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 • 2,718 applications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BF153-CF87-41DE-9D48-1C02B22F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3581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B40C1-8813-44F7-AE79-828A1D24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3581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486A3-6A16-478C-9619-EFF15A32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480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OOT default 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8C86C9-944C-44E5-BE60-73D16EDC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052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18.8%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Observed 12-month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F0ADA5-958C-48BD-85F3-415D2B3A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35814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2D9FE-D7A5-48E9-8487-63B7FDE5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3581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3D40A-43C9-4C84-8D85-EF0261A2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911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30F70-8C46-407B-B19B-C16FDC15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448300"/>
            <a:ext cx="3162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29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A-F bands are communication layers over continuous PD.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F8501-4BB7-43FA-821E-BD497809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4A599C-FFC4-45C2-8C03-399030A5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• DECISION SUPPORT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8242F5-695E-400F-99B3-F3CAE798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4298322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A5D52F-BA1F-4FC4-929C-1B68B4B8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BANKING CREDIT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667DA-0F9A-4494-B1E5-4558EB8D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Threshold scenarios expose the volume–risk trade-off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221CA-1495-4DE6-B478-169C7D1B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FB2D1-29DB-4795-ACA8-65DA7879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95300" y="1790700"/>
          <a:ext xmlns:a="http://schemas.openxmlformats.org/drawingml/2006/main" cx="666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65d0f926f7404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8E0A5-BCBC-427B-B581-848BA1BC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4152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5494D-6576-4658-B346-D10FF221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4152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37713-AC0F-4712-B2F5-8945E3F3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Illustrative expected loss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58A22-5D0B-4F52-9A52-C84E35A3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95550"/>
            <a:ext cx="373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₺44.5m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PD × 45% LGD × requested amount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BB863-E216-4877-804A-3405FCE7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41529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CF68A-83F0-4EC2-993D-73E992EC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4152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5EA01-6A57-4D78-9EA6-16E6FE08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7665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Interpret carefully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D6BA6-B4C2-46E2-9B09-ABCE9933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33850"/>
            <a:ext cx="37338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The EL bridge is a transparent scenario aid. It is not an IFRS 9 impairment engine: no staging, lifetime PD, discounting, recoveries or forward-looking macro scenarios are claimed.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BDBDB-48AE-491D-87A2-4754A02F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6872D8-300A-4DAD-B650-9524C8BC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• DECISION SUPPORT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E0373-EE82-411C-9F6D-16A145E1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15301677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73AA96-4874-4404-9E1E-6DAAC6EE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BANKING CREDIT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81FE6-954D-41D1-A910-1B459B21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Exact additive Linear SHAP makes the champion auditable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173B8-78A9-487A-B7B9-944E1B72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34C7B-84DD-42A8-AF04-EFA2358F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EE068-3430-4CDC-A9E4-509C809C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6667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1d06dfee445a8"/>
          <a:stretch xmlns:a="http://schemas.openxmlformats.org/drawingml/2006/main"/>
        </p:blipFill>
        <p:spPr>
          <a:xfrm xmlns:a="http://schemas.openxmlformats.org/drawingml/2006/main">
            <a:off x="571500" y="1905011"/>
            <a:ext cx="6515100" cy="35813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4D702-15DA-4BF0-955D-7F7C79A0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1529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7CE12-C598-40E7-8ECB-245CFC32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152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808BF-3CDB-4378-BE3F-8A4F8684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4310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Global 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99D71-1561-42B3-AD93-03230608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0030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934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Mean absolute contribution ranks the drivers of model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4AA68-B431-4FAC-B0A1-A729EC70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41529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437C0-C564-406C-8F98-521C03B5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4152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CC895-5DE4-45AE-9D71-49F5414C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7660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Local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26271-080C-4E1C-84B3-696CC404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3380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859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Top risk-increasing contributions become reviewer reason codes.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2C3F6-5BE5-4EB4-9C3B-06AEEDF3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41529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3CBAE-A612-40A0-991A-ECBFCE5F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4152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A2CB8B-5820-4950-A9F3-068FB332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1010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Mathematical 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DFDC73-B793-4286-BC94-E277B9BC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6730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Maximum additivity error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2.66e-15 log-odds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D3C3E-B789-4B55-A454-7603DAEB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3767E-AB66-4535-8EC4-D457D91E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• DECISION SUPPORT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04A35-5745-4436-B974-4BEE1666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5132269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5098DD-9BAF-43B2-AC99-5A5DCDAB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BANKING CREDIT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C7CC9-0367-476F-94B8-AEAF9794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A reason code is evidence for review — not the final notice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FD184-7002-4398-AE50-65CA1902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45AD0-54B8-49DD-BB08-1ECA7360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E0601-C717-4374-BE53-BF86C973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481965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34DB2-F680-474A-9FDC-88F53C6C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4819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93802-7D62-4A6C-A799-5D512FEC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440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Example reviewer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AFA1D-ACF2-4F25-B8AC-8E13A2BC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44005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PD 14.7% • Score 604 • Band D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Recommendation: REFER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  RISK_UP_DEBT_TO_INCOME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  RISK_UP_REVOLVING_UTILIZATION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  RISK_UP_BUREAU_SCORE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  RISK_UP_DELINQUENCIES_36M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661D6-FC21-48D2-9144-6E08ABAE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577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Required interpretation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EC7AF-86D8-4B10-9F4D-94F38B36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384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042FA-9ECC-440F-BCD9-B6663117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0300"/>
            <a:ext cx="544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Contribution is expressed in model log-odds, not causality.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5FC5F-4252-4B75-8FEB-4D5EC5A4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670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0444DF-D198-46AA-A51B-A1128816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8950"/>
            <a:ext cx="544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Only top risk-increasing drivers are shown to the reviewer.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3D76C-1EEF-4AAB-9A73-ACBAFDA5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957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08B1F-F5AB-44F2-9C77-BA26CC4D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57600"/>
            <a:ext cx="544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Protected attributes never appear in model reason codes.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41C97-13EB-483B-AA99-150C18E6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6BDF0D-2289-48DE-B8ED-A6ADAAAD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86250"/>
            <a:ext cx="544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Operational notices require policy, legal and data-quality checks.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159E36-2E9C-410B-A4E8-3A9F48E4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0A11D3-B2C3-44BD-A37C-759C668C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14900"/>
            <a:ext cx="544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Override and final rationale belong in a separate audit record.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0F175E-5485-4F51-B47A-A1FE0EF0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797D52-AC68-41C1-9778-E2C80336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• DECISION SUPPORT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D6FC9C-1B44-4860-88DD-1E242ACC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11534656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F30899-6BA7-42A3-A6DB-480EE9FC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BANKING CREDIT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F590C-27A2-4420-BEF1-41A31B17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fairness review surfaces a real governance blocker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BF209-C56E-485D-A8EF-199D1234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1CE7C-E6DE-4CF3-8924-D858CE3D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174E0-B7E6-4314-B7DD-00675758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6191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414b4aba14883"/>
          <a:stretch xmlns:a="http://schemas.openxmlformats.org/drawingml/2006/main"/>
        </p:blipFill>
        <p:spPr>
          <a:xfrm xmlns:a="http://schemas.openxmlformats.org/drawingml/2006/main">
            <a:off x="571500" y="2333367"/>
            <a:ext cx="6038850" cy="251511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7BC83-011C-4842-85D0-72591125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21336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1F177-3DE1-46A8-B7DF-8D487FA5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46DE7-B58D-4DCD-8C0E-41B11984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431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Gender DP gap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6B199-F651-4CAE-B70D-4E84BD52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2885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1.6 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0A465-2C96-4083-953D-AA6D96C1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432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Diagnostic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C693B-4DA0-406F-8F57-64C3A036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52600"/>
            <a:ext cx="2190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05FF9-2AEA-44FC-9D2E-D2CF473D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526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90276-9189-4B84-A221-229E25B2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431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Age-band DP 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2111F-20C8-454B-B497-91222B34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288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36.7 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97E45D-167C-4B5F-BC62-34201610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432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Escalate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CB602-1E96-4B1D-A111-FED65648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1850"/>
            <a:ext cx="4533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84D93E-313D-4442-9386-E77A0B91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1850"/>
            <a:ext cx="4533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8695B7-EE3B-4D73-A2B9-1925C0FE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00450"/>
            <a:ext cx="411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Governance disposition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4B0FC-309E-4D34-BAC8-AE5F2030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57650"/>
            <a:ext cx="4114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GOVERNANCE REVIEW REQUIRED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Investigate legitimate feature pathways, sample composition, policy thresholds, proxy effects and jurisdiction-specific obligations before any external use.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27C41-FA85-4033-AA01-17030EB7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06A2F-D570-46B2-965C-4A143B17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• FAIRNESS METRICS ARE DIAGNOSTIC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41827-5CF6-45C4-8DCE-B463D057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1965510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A35C9B-0EF6-4B78-8BB4-0763E148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BANKING CREDIT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8BA4B-02C0-465E-82EC-46BE385E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425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Monitoring combines performance, drift and allocation signals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74059-B526-47CF-A068-98BC0E36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CC467-4A2B-4144-A3E6-91A94E83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02BB4-3E92-4EC5-B4C5-7CBAB22A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685800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ec38dee394fac"/>
          <a:stretch xmlns:a="http://schemas.openxmlformats.org/drawingml/2006/main"/>
        </p:blipFill>
        <p:spPr>
          <a:xfrm xmlns:a="http://schemas.openxmlformats.org/drawingml/2006/main">
            <a:off x="849080" y="1771650"/>
            <a:ext cx="6150440" cy="3905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2E3D3-F25A-4A05-88E2-BFEAE3DC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3962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29F86-1C9D-44A5-B451-54F5ED87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396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EEE80-EB7B-4742-B38B-E05E88ED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4310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Performance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1BDA9-54A4-4667-8DE2-86EC747F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354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ROC AUC • Brier • observed default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8DA2C-FC7E-42F0-AE0F-48823194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9900"/>
            <a:ext cx="3962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AE971-448D-4C82-A170-21B366C2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9900"/>
            <a:ext cx="396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1730C-C466-43CA-BA11-3A137127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3850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Stability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CFE4A-7E9F-451E-9C0D-281124FE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95700"/>
            <a:ext cx="354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Score PSI • bureau-score PSI • DTI PSI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3C363-55EB-4872-BB68-D7CDFA58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05300"/>
            <a:ext cx="3962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3BBA8-8D8C-4D0D-AAB6-857623AC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05300"/>
            <a:ext cx="396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B2B9DF-6B34-45AC-94B8-636CDA18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3390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699815-30C5-4FBE-A929-AA9E46E8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9110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 = observe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Amber = investigate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Red = restrict / rollback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ADA04-8047-4512-BD19-7F9B7851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59E0DD-56EF-4139-B627-C0892C0F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• DECISION SUPPORT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4B6DB-33FB-4C14-8F20-78A28235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12529716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057F65-1D38-4D9F-9A7D-5C77C239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BANKING CREDIT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D2F86-037C-48E3-9099-EB36C362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Human oversight is designed as an operating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2FF38-77FA-4673-BDD2-46DC9869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D0E16-8913-4F28-ACB3-B1B45FFA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46305-7F83-41DF-B044-5B487272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3333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3B36E-EB52-46E0-801A-58701E85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D045E-8A94-488D-9880-2DC7B811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1  Receive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66BD5-6695-454E-BF2C-65172C1B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2914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and validation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B73FD-BCC2-451F-8223-4E3F9C88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90700"/>
            <a:ext cx="3333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1BC12-F2F7-4C76-9856-3DE57C6C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907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5C79E-B166-4851-8628-703D2B5F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193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2  Recommend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661F4-8A67-4038-BDF0-CC1E9010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2914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PD, score, band and reason codes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E96BCA-3983-4B49-9B0E-4529E0EB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3333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32B3F-BF05-4726-9748-1C6EE484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FA061-40B8-45FE-86D0-AE7A9FE7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193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3 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D085CF-605A-423F-82E9-CFEEE2DB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76500"/>
            <a:ext cx="2914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Credit officer evaluates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FD4AE3-85BE-4665-8107-1631CF71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29050"/>
            <a:ext cx="3333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9B44A-F799-4C6F-ADC4-F41069C6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290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A22576-A859-4BF1-ABB1-0CF595AE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4  Decide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295BF0-7B89-4417-AF2C-9581B4D0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2914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Authorized action outside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118E30-CACA-413B-9327-630F5854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29050"/>
            <a:ext cx="3333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EBC9BA-F0AE-4260-A0AB-71B52042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290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D0C0FC-0499-4F4E-AC61-298674BC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576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5  Record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2AA313-9122-45FB-9C09-CD459A92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14850"/>
            <a:ext cx="2914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Rationale, override and notice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A8ABDC-1369-4D7E-9F08-D376C95D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29050"/>
            <a:ext cx="3333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19C3FC-98D9-417E-80F4-BA653B90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290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21C733-2E09-43F6-9B06-7FC2F190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576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6  Learn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2BC770-CDAD-4491-8F90-8CF638E1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14850"/>
            <a:ext cx="2914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Outcome, incident and monitoring feedback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DDC1D8-BD88-413C-A160-94E500D2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35EDCE-526D-45A9-99E9-0C47F0C4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• DECISION SUPPORT 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AF14D7-4448-45DD-A6F6-FA36A51D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10102660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45C73A-4269-4735-AF7B-42195DF9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BANKING CREDIT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A8B99-DFEB-414C-9A7D-0556B1F2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12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Operational controls make the demo deployable without overstating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8DF1A-AF6A-4896-91F8-B0D643A8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E4893-E10C-45C6-BCAC-531755B6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E1342-0679-48F7-9F82-A7D9560A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73DE2-5DEB-4D86-BC37-A266BF58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F47C7-2FAE-4240-A9F4-7FDFB6D3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API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78331-DB50-47F4-B932-9E649C74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2914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71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Pydantic validation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API-key option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No protected fields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Recommendation-only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308FC-0CD3-419B-B7F4-47FEA14C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6A71D-7F5F-453B-9B25-C61693A8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A4D29-217F-40A7-AA3F-EC418112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193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Runtime hardening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5A88F-AC61-4E43-8BFE-1B2E52F7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76500"/>
            <a:ext cx="2914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71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Non-root container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Read-only filesystem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Dropped Linux capabilities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Health and readiness probes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829B2-28B4-43A1-BB3A-8BCBE321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90700"/>
            <a:ext cx="3695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355E4-CE5B-4E13-88B6-FA3F6567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90700"/>
            <a:ext cx="369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8B826-C064-4C27-B332-5B866E93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1930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Observability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6AD6B8-6124-455C-9484-28A06875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327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Prometheus metrics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Grafana dashboard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Availability / latency / error alerts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AA0222-5539-430E-8A3B-4BB01FEE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28D6CD-8AFF-44BA-9426-5539C669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AC69A4-66D8-4ABC-8C33-E0B94798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Data controls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4B15E-22B4-4898-A1B5-CF6BEB27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2914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Separate governance schema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No credentials committed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datasets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742987-9996-4CB5-8E70-F5A95733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14750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DD5AE5-C3DC-46BD-B9BC-D4DCCDD6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147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7917F8-C651-4EFD-881A-8AF65E31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9433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CI security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A9CE1-0AD3-4E7D-85F4-0F0D3821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00550"/>
            <a:ext cx="2914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Ruff • tests • coverage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CodeQL • pip-audit • Trivy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Dependabot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F4C5A4-2F2A-494D-84F5-B313C9C7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3695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7591F1-24CF-471A-BEE0-240F9180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369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F0B868-7E4C-463A-8721-2E85C9FF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Model controls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96BC3D-436F-46EF-B589-5958FE1F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327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71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Versioned artifacts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Reproducible data hash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SHAP identity gate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Monitoring runbook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24F7B2-DA77-47D7-B260-B42214D4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8D92D4-91E1-4C92-A17C-0D2562F0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• DECISION SUPPORT 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34517D-8BD1-4801-803B-FFD589C8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17798510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323843-5BB0-4781-9E17-2DC67E64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BANKING CREDIT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A78F8-F8AF-45FF-8E26-0E40662F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2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A disciplined roadmap leads from portfolio demo to controlled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CB744-0F20-48CE-AC4D-2F8E148F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53C08-BC84-482E-BA36-2DDE2EB5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8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6CD48-1117-4723-A295-59ACF21A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63551-2E36-454F-BBD1-1770720D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943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4EB82-36E0-43EB-8699-02448C36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5745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Portfolio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60492-25ED-4143-A197-88E9A9E0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00400"/>
            <a:ext cx="1943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data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Temporal validation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Governance pack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440BC-C1E1-40DD-9C59-D5429D00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907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150EA-A997-4BE4-BC4E-19D501C3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097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Gate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C7FA7-215C-473C-B371-0B17B5D1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90750"/>
            <a:ext cx="1943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EC6A3-CEDC-4AD0-BE42-C679D4DE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4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Independent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2926C-1A08-4183-9CD8-CC7A7927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00400"/>
            <a:ext cx="1943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Reproduce metrics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Challenge assumptions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Fairness investigation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12424-56B8-4B59-A387-8C3A74B9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111CC-96C0-4588-B6B1-54EE3DA4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Gate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FD9E71-60CD-4E47-B30D-8A8FA383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90750"/>
            <a:ext cx="1943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3BFEB7-9FD6-466E-BF66-65E855E4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5745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Legal &amp; 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F1220-0DB5-40D5-955F-170F9746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00400"/>
            <a:ext cx="1943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Jurisdiction mapping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Disclosure design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Override authority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E9FD54-1798-4124-9B4C-F986C219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907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3450EB-B75A-4345-BDE9-CFFA8B10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Gate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87C3EB-7105-4852-B407-8DC1E14E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1943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55BA93-0AAD-48B5-ACAC-19F9F4E9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5745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Shadow pilot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C1F84F-1CC7-4C6C-A011-5C2AEB13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1943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No-action scoring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Drift baselines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Incident testing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69BFA7-E532-4D71-AF1F-A453D219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907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A07D68-4DD5-40A1-B11E-A2FCD11F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097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Only then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4AA103-7B44-4A9A-BAD2-D7A116F7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1943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274E58-A332-46E6-825D-F3E74596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Controlled use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0C3006-243D-472F-8986-8A36993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00400"/>
            <a:ext cx="1943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Approval committee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Restricted scope</a:t>
            </a:r>
          </a:p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Ongoing validation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E27C63-69EB-4117-A0A7-28504B82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109347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759A10-32B0-49B2-8442-0E579E4D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CURRENT DISPOSITION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433688-6B56-4FA4-8052-6140C149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149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Portfolio-complete; not approved for real lending use because fairness and external-validity work remain open.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CE944E-CF53-41C0-A3A0-C0BD4754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D88038-0FD2-4CED-81C8-699C1878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SYNTHETIC • DECISION SUPPORT ONLY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7376DF-BE49-4F72-A7A2-D3EBB423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3186282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56CD11-19C9-4515-A0B9-396E3569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B45EE-682E-4A30-848B-A196C7E1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TÜRKÇE YÖNETİCİ ÖZETİ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942DB-61E5-4C3E-B2CC-38103C85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90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Şeffaf model.</a:t>
            </a:r>
          </a:p>
          <a:p xmlns:a="http://schemas.openxmlformats.org/drawingml/2006/main">
            <a:pPr algn="l">
              <a:defRPr sz="36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Kontrollü politika.</a:t>
            </a:r>
          </a:p>
          <a:p xmlns:a="http://schemas.openxmlformats.org/drawingml/2006/main">
            <a:pPr algn="l">
              <a:defRPr sz="360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İnsan kararı.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BB708-1DC9-4DE8-BC73-568523C5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6286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48.000 sentetik başvuru üzerinde OOT AUC 0.738 ve Gini 0.475 elde edildi. PD, risk bandı, SHAP neden kodları ve aylık izleme tek bir yönetişim zincirinde birleştirildi.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B502B-E7B1-40CC-B15A-43CECCC7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43434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7F4C1-4E6D-4419-B9E4-B5367033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434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D4AD4-793A-4D95-83B3-8D7D6E3F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5735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Güçlü taraf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EF990-1C4B-4ECA-B953-75C90A39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14550"/>
            <a:ext cx="3924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Tekrarlanabilir analitik, kalibrasyon, açıklanabilirlik ve operasyonel kontroller.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17A84-7613-4521-882D-7DBE3CD1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43434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2395E-AC3A-4D1E-951A-EF7BDDDF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434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DA5EC-207E-4B97-AD8F-58311C9F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0045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Açık bulgu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A25A3-9D4D-4E05-BFC5-8BE02447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57650"/>
            <a:ext cx="3924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Yaş gruplarında belirgin tahsis farkı: gerçek kullanım öncesi yönetişim incelemesi zorunlu.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666F6-1A96-4987-8ADE-D01EAF68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197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F766E"/>
                </a:solidFill>
                <a:latin typeface="Arial"/>
                <a:ea typeface="Arial"/>
                <a:cs typeface="Arial"/>
              </a:rPr>
              <a:t>github.com/muratmiracg-dev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E0708-813E-4C40-AC23-64CCA260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Thank you • Teşekkürler</a:t>
            </a:r>
          </a:p>
        </p:txBody>
      </p:sp>
    </p:spTree>
    <p:extLst>
      <p:ext uri="{BB962C8B-B14F-4D97-AF65-F5344CB8AC3E}">
        <p14:creationId xmlns:p14="http://schemas.microsoft.com/office/powerpoint/2010/main" val="496225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2026-07-29T10:11:08.3460000Z</dcterms:created>
  <dcterms:modified xsi:type="dcterms:W3CDTF">2026-07-29T10:11:08.3460000Z</dcterms:modified>
</coreProperties>
</file>